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1973304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0116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Automações 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38BDF8"/>
                </a:solidFill>
                <a:latin typeface="Calibri"/>
              </a:rPr>
              <a:t>Guia prático · Passo a passo · Dicas e avisos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Record PAP — treinamento interno para o time comercial
Menu completo: DFV, CDOE, Viabilidade, Inclusão, Status, Fatura, Conta,
Material/Apoia, Andamento, Crédito, Pedido, Bio, Vender, Nova Venda e Comissão.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Digite MENU no WhatsApp para ver todas as opções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E0F2FE"/>
                </a:solidFill>
                <a:latin typeface="Calibri"/>
              </a:rPr>
              <a:t>Identidade visual: Design System Record PAP v17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Agenda do treinamento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16 automações do menu WhatsApp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557784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344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284C7"/>
                </a:solidFill>
                <a:latin typeface="Calibri"/>
              </a:rPr>
              <a:t>01.  DFV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D"/>
                </a:solidFill>
                <a:latin typeface="Calibri"/>
              </a:rPr>
              <a:t>     Consultar fachadas por CEP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284C7"/>
                </a:solidFill>
                <a:latin typeface="Calibri"/>
              </a:rPr>
              <a:t>02.  CDOE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D"/>
                </a:solidFill>
                <a:latin typeface="Calibri"/>
              </a:rPr>
              <a:t>     Endereços por código do CDO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284C7"/>
                </a:solidFill>
                <a:latin typeface="Calibri"/>
              </a:rPr>
              <a:t>03.  VIABILIDADE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D"/>
                </a:solidFill>
                <a:latin typeface="Calibri"/>
              </a:rPr>
              <a:t>     Consultar viabilidade por CEP e número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284C7"/>
                </a:solidFill>
                <a:latin typeface="Calibri"/>
              </a:rPr>
              <a:t>04.  INCLUSAO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D"/>
                </a:solidFill>
                <a:latin typeface="Calibri"/>
              </a:rPr>
              <a:t>     Solicitar inclusão de viabilidade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284C7"/>
                </a:solidFill>
                <a:latin typeface="Calibri"/>
              </a:rPr>
              <a:t>05.  STATUS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D"/>
                </a:solidFill>
                <a:latin typeface="Calibri"/>
              </a:rPr>
              <a:t>     Consultar status de pedido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284C7"/>
                </a:solidFill>
                <a:latin typeface="Calibri"/>
              </a:rPr>
              <a:t>06.  FATURA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D"/>
                </a:solidFill>
                <a:latin typeface="Calibri"/>
              </a:rPr>
              <a:t>     Consultar fatura por CPF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284C7"/>
                </a:solidFill>
                <a:latin typeface="Calibri"/>
              </a:rPr>
              <a:t>07.  CONTA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D"/>
                </a:solidFill>
                <a:latin typeface="Calibri"/>
              </a:rPr>
              <a:t>     2ª via de conta por CPF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284C7"/>
                </a:solidFill>
                <a:latin typeface="Calibri"/>
              </a:rPr>
              <a:t>08.  MATERIAL / APOIA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D"/>
                </a:solidFill>
                <a:latin typeface="Calibri"/>
              </a:rPr>
              <a:t>     Buscar materiais e documentos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51560"/>
            <a:ext cx="557784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344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284C7"/>
                </a:solidFill>
                <a:latin typeface="Calibri"/>
              </a:rPr>
              <a:t>09.  ANDAMENTO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D"/>
                </a:solidFill>
                <a:latin typeface="Calibri"/>
              </a:rPr>
              <a:t>     Ver agendamentos do dia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284C7"/>
                </a:solidFill>
                <a:latin typeface="Calibri"/>
              </a:rPr>
              <a:t>10.  CREDITO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D"/>
                </a:solidFill>
                <a:latin typeface="Calibri"/>
              </a:rPr>
              <a:t>     Análise de crédito por CPF/CNPJ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284C7"/>
                </a:solidFill>
                <a:latin typeface="Calibri"/>
              </a:rPr>
              <a:t>11.  PEDIDO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D"/>
                </a:solidFill>
                <a:latin typeface="Calibri"/>
              </a:rPr>
              <a:t>     Consultar pedido / O.S. por CPF no PAP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284C7"/>
                </a:solidFill>
                <a:latin typeface="Calibri"/>
              </a:rPr>
              <a:t>12.  BIO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D"/>
                </a:solidFill>
                <a:latin typeface="Calibri"/>
              </a:rPr>
              <a:t>     Resultado da biometria (Br Pronto)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284C7"/>
                </a:solidFill>
                <a:latin typeface="Calibri"/>
              </a:rPr>
              <a:t>13.  VENDER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D"/>
                </a:solidFill>
                <a:latin typeface="Calibri"/>
              </a:rPr>
              <a:t>     Realizar venda pelo WhatsApp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284C7"/>
                </a:solidFill>
                <a:latin typeface="Calibri"/>
              </a:rPr>
              <a:t>14.  NOVA VENDA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D"/>
                </a:solidFill>
                <a:latin typeface="Calibri"/>
              </a:rPr>
              <a:t>     Cadastrar venda no CRM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284C7"/>
                </a:solidFill>
                <a:latin typeface="Calibri"/>
              </a:rPr>
              <a:t>15.  COMISSAO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D"/>
                </a:solidFill>
                <a:latin typeface="Calibri"/>
              </a:rPr>
              <a:t>     Bônus, desconto e adiantamentos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Antes de começar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Pré-requisitos e regras gerais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5577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73152" cy="2377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61288"/>
            <a:ext cx="5257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284C7"/>
                </a:solidFill>
                <a:latin typeface="Calibri"/>
              </a:rPr>
              <a:t>🔑 Acesso ao menu de vendedor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Telefone precisa estar cadastrado em Usuario.tel_whatsapp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  (também _2 / _3) e o usuário deve estar ativo.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Número não cadastrado → atendimento de cliente/IA,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  não o menu comercial.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Digite MENU, AJUDA, HELP ou OPCOES para reabrir o menu.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51560"/>
            <a:ext cx="5577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73152" cy="2377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161288"/>
            <a:ext cx="5257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284C7"/>
                </a:solidFill>
                <a:latin typeface="Calibri"/>
              </a:rPr>
              <a:t>🧭 Como navegar nos fluxos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Sempre um comando por vez (ex.: DFV).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CANCELAR / SAIR / PARAR abortam a maioria dos fluxos.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Aguarde a resposta do bot antes de digitar o próximo dado.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Algumas opções exigem flag na Governança.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Sessões longas (ex.: VENDER) têm timeout de inatividade.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657600"/>
            <a:ext cx="55778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73152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67328"/>
            <a:ext cx="5257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Calibri"/>
              </a:rPr>
              <a:t>🛡️ Permissões especiais (Governança)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Inclusão → autorizar_inclusao_wpp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Crédito / Pedido → autorizar_analise_credito_wpp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Bio → autorizar_consulta_bio_wpp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Vender → autorizar_venda_sem_auditoria + matrícula PAP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Comissão → somente Diretoria ou Admin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5778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73152" cy="2560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767328"/>
            <a:ext cx="5257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Calibri"/>
              </a:rPr>
              <a:t>💡 Boas práticas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Confirme CEP e CPF antes de enviar.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Não invente fachada/complemento na Inclusão.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Em dúvidas de material, use tags curtas (ex.: plano).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VENDER ≠ NOVA VENDA (PAP vs cadastro CRM).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Em erro persistente, avise o BackOffice /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01. DFV — Consultar fachadas por CEP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Power BI ao vivo  ·  Acesso: Todos os vendedores cadastrados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6012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201168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284C7"/>
                </a:solidFill>
                <a:latin typeface="Calibri"/>
              </a:rPr>
              <a:t>Comando: DFV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960120"/>
            <a:ext cx="1828800" cy="29260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005840"/>
            <a:ext cx="182880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Power BI ao vivo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17320"/>
            <a:ext cx="66751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73152" cy="3063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54480"/>
            <a:ext cx="6309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Calibri"/>
              </a:rPr>
              <a:t>📋 Passo a passo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1. Digite DFV no WhatsApp.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2. Informe o CEP (8 dígitos; hífen opcional).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3. Aguarde a consulta ao Power BI ao vivo.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4. Receba logradouro, bairro, cidade/UF, CDO(s) e números/complementos.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0"/>
            <a:ext cx="4480560" cy="3063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417320"/>
            <a:ext cx="44805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4904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💬 Exemplo no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920240"/>
            <a:ext cx="4069080" cy="53035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956816"/>
            <a:ext cx="3931920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Digite o CEP para consultar fachadas (DFV).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523744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56032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29101-400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962656"/>
            <a:ext cx="4069080" cy="53035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999232"/>
            <a:ext cx="3931920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🏢 DFV (Power BI ao vivo)
Rua X · Vitória/ES
Números: 10, 12, 14A…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Calibri"/>
              </a:rPr>
              <a:t>💡 Dicas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Prefira números viáveis quando a lista for longa.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Cobertura: ES, MG e RJ.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Digite CANCELAR / SAIR / PARAR para abortar.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⚠️ Avisos importantes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Fonte ao vivo do Power BI — pode haver latência.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Fachada antiga (FACHADA) foi desativada; use DFV.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02. CDOE — Endereços por código do CDO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Power BI  ·  Acesso: Todos os vendedores cadastrados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6012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201168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284C7"/>
                </a:solidFill>
                <a:latin typeface="Calibri"/>
              </a:rPr>
              <a:t>Comando: CDOE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960120"/>
            <a:ext cx="1828800" cy="29260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005840"/>
            <a:ext cx="182880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Power BI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17320"/>
            <a:ext cx="66751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73152" cy="3063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54480"/>
            <a:ext cx="6309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Calibri"/>
              </a:rPr>
              <a:t>📋 Passo a passo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1. Digite CDOE ou CDOE 28005 (código inline).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2. Selecione a UF nos botões: MG / ES / RJ.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3. Se houver várias cidades, escolha na lista interativa.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4. Escolha o número da rua e veja os números de fachada.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0"/>
            <a:ext cx="4480560" cy="3063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417320"/>
            <a:ext cx="44805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4904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💬 Exemplo no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920240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956816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Informe o código do CDO (ex: 28005).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359152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395728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28005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798064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83464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Selecione a UF: [MG] [ES] [RJ]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Calibri"/>
              </a:rPr>
              <a:t>💡 Dicas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Aceita 28005 ou CDOE-28005.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Use a lista de opções do WhatsApp para escolher a rua.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⚠️ Avisos importantes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Mesma fonte Power BI do DFV.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Cancele a qualquer momento com CANCELAR.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03. VIABILIDADE — Consultar viabilidade por CEP e número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KMZ / Mapa  ·  Acesso: Todos os vendedores cadastrados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6012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201168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284C7"/>
                </a:solidFill>
                <a:latin typeface="Calibri"/>
              </a:rPr>
              <a:t>Comando: VIABILIDADE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960120"/>
            <a:ext cx="1828800" cy="29260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005840"/>
            <a:ext cx="182880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KMZ / Mapa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17320"/>
            <a:ext cx="66751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73152" cy="3063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54480"/>
            <a:ext cx="6309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Calibri"/>
              </a:rPr>
              <a:t>📋 Passo a passo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1. Digite VIABILIDADE.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2. Informe o CEP.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3. Informe o número da fachada (Modo Mapa).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4. O bot geolocaliza e testa se o ponto está na mancha (KMZ).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0"/>
            <a:ext cx="4480560" cy="3063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417320"/>
            <a:ext cx="44805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4904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💬 Exemplo no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920240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956816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Informe o CEP para viabilidade.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359152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395728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29101400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798064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83464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Agora o número da fachada.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3236976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3273552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150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Calibri"/>
              </a:rPr>
              <a:t>💡 Dicas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Se a geo falhar, o sistema tenta a base DFV local.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Aliases: VIABILIDADE / VIABILIDADES.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⚠️ Avisos importantes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Resultado sujeito a vistoria técnica local.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Pode retornar: dentro da mancha, fora, não localizado ou só no DFV.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04. INCLUSAO — Solicitar inclusão de viabilidade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Formulário  ·  Acesso: Flag autorizar_inclusao_wpp = Sim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6012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201168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284C7"/>
                </a:solidFill>
                <a:latin typeface="Calibri"/>
              </a:rPr>
              <a:t>Comando: INCLUSAO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960120"/>
            <a:ext cx="1828800" cy="29260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005840"/>
            <a:ext cx="182880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Formulário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17320"/>
            <a:ext cx="66751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73152" cy="3063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54480"/>
            <a:ext cx="6309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Calibri"/>
              </a:rPr>
              <a:t>📋 Passo a passo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1. Digite INCLUSAO.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2. CEP → número (SN vira 0) → complementos → vizinhos (Frente/Dir/Esq).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3. Confirme coordenadas (Maps) ou cole lat/long manualmente.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4. Foto (Street View auto ou envie imagem) + comprovantes opcionais.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5. Observações → confirme com SIM (ética) ou CANCELAR.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0"/>
            <a:ext cx="4480560" cy="3063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417320"/>
            <a:ext cx="44805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4904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💬 Exemplo no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920240"/>
            <a:ext cx="4069080" cy="53035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956816"/>
            <a:ext cx="3931920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Inclusão de viabilidade. Informe o CEP.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523744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56032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29101400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962656"/>
            <a:ext cx="4069080" cy="53035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999232"/>
            <a:ext cx="3931920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Confirme as coordenadas no Maps: SIM ou cole lat,long.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Calibri"/>
              </a:rPr>
              <a:t>💡 Dicas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Envie foto real da fachada quando o Street View falhar.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Comprovantes (PDF/imagem) são opcionais — digite PRONTO para seguir.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⚠️ Avisos importantes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NÃO invente fachada nem complemento.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Há lock anti-duplicidade; anexos temporários são apagados após o envio.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Requer permissão na Governança.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05. STATUS — Consultar status de pedido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CRM + PAP online  ·  Acesso: Todos os vendedores cadastrados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6012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201168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284C7"/>
                </a:solidFill>
                <a:latin typeface="Calibri"/>
              </a:rPr>
              <a:t>Comando: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960120"/>
            <a:ext cx="1828800" cy="29260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005840"/>
            <a:ext cx="182880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CRM + PAP online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17320"/>
            <a:ext cx="66751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73152" cy="3063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54480"/>
            <a:ext cx="6309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Calibri"/>
              </a:rPr>
              <a:t>📋 Passo a passo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1. Digite STATUS (ou SITUACAO).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2. Escolha: 1 = CPF  ou  2 = O.S.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3. Informe o dado solicitado.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4. Receba o status do CRM; se elegível, consulta online no PAP (pode enviar print).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0"/>
            <a:ext cx="4480560" cy="3063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417320"/>
            <a:ext cx="44805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4904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💬 Exemplo no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920240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956816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Consultar status:
1 — CPF
2 — O.S.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359152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395728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798064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83464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Informe o CPF (somente números).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Calibri"/>
              </a:rPr>
              <a:t>💡 Dicas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A consulta online pode levar até ~3 minutos.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Use O.S. quando já tiver o número do pedido.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⚠️ Avisos importantes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Timeout da consulta online ≈ 180s.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Aguarde a mensagem final antes de digitar outro comando.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06. FATURA — Consultar fatura por CPF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Nio Negociar / API  ·  Acesso: Todos os vendedores cadastrados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6012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201168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284C7"/>
                </a:solidFill>
                <a:latin typeface="Calibri"/>
              </a:rPr>
              <a:t>Comando: FATURA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960120"/>
            <a:ext cx="1828800" cy="29260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005840"/>
            <a:ext cx="182880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Nio Negociar /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17320"/>
            <a:ext cx="66751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73152" cy="3063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54480"/>
            <a:ext cx="6309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Calibri"/>
              </a:rPr>
              <a:t>📋 Passo a passo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1. Digite FATURA.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2. Informe o CPF (11 dígitos).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3. Veja a lista (atrasadas → abertas → outras).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4. Se houver várias, digite o número da fatura desejada para detalhes + PDF.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0"/>
            <a:ext cx="4480560" cy="3063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417320"/>
            <a:ext cx="44805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4904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💬 Exemplo no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920240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956816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Informe o CPF para consultar faturas.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359152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395728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12345678901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798064"/>
            <a:ext cx="4069080" cy="53035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834640"/>
            <a:ext cx="3931920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1) Atrasada R$ 99,90
2) Aberta R$ 89,90
Digite o nº…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Calibri"/>
              </a:rPr>
              <a:t>💡 Dicas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O DV do CPF não é validado localmente — a Nio valida.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PDF pode vir da API ou via navegação automatizada.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⚠️ Avisos importantes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Evite repetir o comando em sequência (lock anti-duplicidade).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Use Conta quando precisar da 2ª via pelo site Nio.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07. CONTA — 2ª via de conta por CPF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Site Nio  ·  Acesso: Todos os vendedores cadastrados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6012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201168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284C7"/>
                </a:solidFill>
                <a:latin typeface="Calibri"/>
              </a:rPr>
              <a:t>Comando: CONTA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960120"/>
            <a:ext cx="1828800" cy="29260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005840"/>
            <a:ext cx="182880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Site Nio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17320"/>
            <a:ext cx="66751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73152" cy="3063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54480"/>
            <a:ext cx="6309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Calibri"/>
              </a:rPr>
              <a:t>📋 Passo a passo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1. Digite CONTA.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2. Informe o CPF.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3. Receba detalhes + PDF da primeira conta encontrada no site.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0"/>
            <a:ext cx="4480560" cy="3063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417320"/>
            <a:ext cx="44805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4904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💬 Exemplo no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920240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956816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Informe o CPF para 2ª via de conta.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359152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395728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12345678901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798064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83464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📄 Conta encontrada — enviando PDF…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Calibri"/>
              </a:rPr>
              <a:t>💡 Dicas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Fluxo mais direto que FATURA (foco em 2ª via).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Aliases: CONTA / CONTAS.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⚠️ Avisos importantes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Depende da disponibilidade do site Nio.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Confirme o CPF digitado antes de enviar.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08. MATERIAL / APOIA — Buscar materiais e documentos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Record Apoia  ·  Acesso: Todos os vendedores cadastrados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6012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201168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284C7"/>
                </a:solidFill>
                <a:latin typeface="Calibri"/>
              </a:rPr>
              <a:t>Comando: MATERIAL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960120"/>
            <a:ext cx="1828800" cy="29260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005840"/>
            <a:ext cx="182880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Record Apoia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17320"/>
            <a:ext cx="66751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73152" cy="3063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54480"/>
            <a:ext cx="6309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Calibri"/>
              </a:rPr>
              <a:t>📋 Passo a passo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1. Digite MATERIAL ou APOIA (ou Record Apoia).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2. Informe uma palavra-chave (≥ 2 caracteres).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3. 1 arquivo → envio direto; vários → lista numerada para escolher.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4. Dica: na etapa inicial, texto livre também busca por tag.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0"/>
            <a:ext cx="4480560" cy="3063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417320"/>
            <a:ext cx="44805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4904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💬 Exemplo no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920240"/>
            <a:ext cx="4069080" cy="53035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956816"/>
            <a:ext cx="3931920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📁 Record Apoia — digite a palavra-chave.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523744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56032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plano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962656"/>
            <a:ext cx="4069080" cy="53035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999232"/>
            <a:ext cx="3931920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1) Tabela Planos
2) Script Venda
Digite o número…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Calibri"/>
              </a:rPr>
              <a:t>💡 Dicas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Busca em tags, título, descrição e categoria.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PDF &gt; 5MB sobe para link (R2) em vez do arquivo no chat.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⚠️ Avisos importantes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Arquivos inativos não aparecem.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Peça ao admin para reenviar material se o arquivo estiver corrompido.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09. ANDAMENTO — Ver agendamentos do 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1 passo  ·  Acesso: Vendedor: só as próprias O.S. · Diretoria/Admin/BackOffice: todas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6012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201168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284C7"/>
                </a:solidFill>
                <a:latin typeface="Calibri"/>
              </a:rPr>
              <a:t>Comando: ANDAMENTO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960120"/>
            <a:ext cx="1828800" cy="29260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005840"/>
            <a:ext cx="182880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1 passo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17320"/>
            <a:ext cx="66751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73152" cy="3063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54480"/>
            <a:ext cx="6309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Calibri"/>
              </a:rPr>
              <a:t>📋 Passo a passo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1. Digite ANDAMENTO.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2. Receba a lista do dia com cliente, O.S., horário, município e atividade.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0"/>
            <a:ext cx="4480560" cy="3063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417320"/>
            <a:ext cx="44805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4904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💬 Exemplo no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920240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1956816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ANDAMENTO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2359152"/>
            <a:ext cx="4069080" cy="53035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2395728"/>
            <a:ext cx="3931920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📅 Agendamentos de hoje
• Maria — OS 123 — 14h — Vitória — Instalação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Calibri"/>
              </a:rPr>
              <a:t>💡 Dicas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Ideal para acompanhar a operação do dia em segundos.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Aliases: ANDAMENTO / ANDAMENTOS.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⚠️ Avisos importantes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Lista apenas O.S. com horário de execução real preenchido.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Vendedor comum não vê agenda de outros.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10. CREDITO — Análise de crédito por CPF/CNPJ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PAP BackOffice  ·  Acesso: Flag autorizar_analise_credito_wpp = Sim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6012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201168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284C7"/>
                </a:solidFill>
                <a:latin typeface="Calibri"/>
              </a:rPr>
              <a:t>Comando: CREDITO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960120"/>
            <a:ext cx="1828800" cy="29260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005840"/>
            <a:ext cx="182880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PAP BackOffice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17320"/>
            <a:ext cx="66751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73152" cy="3063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54480"/>
            <a:ext cx="6309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Calibri"/>
              </a:rPr>
              <a:t>📋 Passo a passo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1. Digite CREDITO.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2. Informe CPF (11) ou CNPJ (14).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3. Se CNPJ, informe também o CPF do representante.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4. Aguarde o resultado em background (APROVADO / NEGADO + formas de pgto).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0"/>
            <a:ext cx="4480560" cy="3063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417320"/>
            <a:ext cx="44805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4904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💬 Exemplo no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920240"/>
            <a:ext cx="4069080" cy="53035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956816"/>
            <a:ext cx="3931920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Informe CPF ou CNPJ para análise de crédito.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523744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56032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12345678901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962656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999232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✅ Análise: APROVADO
Formas: 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Calibri"/>
              </a:rPr>
              <a:t>💡 Dicas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Histórico fica registrado no sistema.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Use antes de avançar uma venda complexa.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⚠️ Avisos importantes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Limite: 1 análise por minuto e 15 por dia (horário de Brasília).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Requer permissão na Governança + pool BO PAP disponível.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11. PEDIDO — Consultar pedido / O.S. por CPF no PAP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Últimos 30 dias + print  ·  Acesso: Mesma permissão de Crédito (autorizar_analise_credito_wpp)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6012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201168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284C7"/>
                </a:solidFill>
                <a:latin typeface="Calibri"/>
              </a:rPr>
              <a:t>Comando: PEDIDO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960120"/>
            <a:ext cx="1828800" cy="29260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005840"/>
            <a:ext cx="182880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Últimos 30 dias + print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17320"/>
            <a:ext cx="66751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73152" cy="3063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54480"/>
            <a:ext cx="6309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Calibri"/>
              </a:rPr>
              <a:t>📋 Passo a passo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1. Digite PEDIDO.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2. Informe CPF ou CNPJ.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3. Receba texto (status/data/plano/OS) + screenshot da lista no PAP.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0"/>
            <a:ext cx="4480560" cy="3063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417320"/>
            <a:ext cx="44805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4904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💬 Exemplo no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920240"/>
            <a:ext cx="4069080" cy="53035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956816"/>
            <a:ext cx="3931920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Informe o CPF/CNPJ para consultar pedidos.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523744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56032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12345678901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962656"/>
            <a:ext cx="4069080" cy="53035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999232"/>
            <a:ext cx="3931920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📦 Pedidos (30 dias)
OS 999 — Instalação — Plano X + print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Calibri"/>
              </a:rPr>
              <a:t>💡 Dicas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Janela de consulta: últimos 30 dias.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O print ajuda a validar visualmente no PAP.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⚠️ Avisos importantes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Sem resultado: mensagem “Não tem pedido com 30 dias…” + imagem.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Depende do pool de logins BackOffice.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12. BIO — Resultado da biometria (Br Pronto)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GED / Br Pronto  ·  Acesso: Flag autorizar_consulta_bio_wpp (Governança)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6012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201168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284C7"/>
                </a:solidFill>
                <a:latin typeface="Calibri"/>
              </a:rPr>
              <a:t>Comando: BIO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960120"/>
            <a:ext cx="1828800" cy="29260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005840"/>
            <a:ext cx="182880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GED / Br Pronto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17320"/>
            <a:ext cx="66751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73152" cy="3063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54480"/>
            <a:ext cx="6309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Calibri"/>
              </a:rPr>
              <a:t>📋 Passo a passo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1. Digite BIO ou BIOMETRIA.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2. Informe o CPF.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3. Receba se está apto (“Doc. Apto para Venda”) ou os status encontrados + print.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0"/>
            <a:ext cx="4480560" cy="3063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417320"/>
            <a:ext cx="44805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4904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💬 Exemplo no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920240"/>
            <a:ext cx="4069080" cy="53035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956816"/>
            <a:ext cx="3931920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Informe o CPF para consultar biometria.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523744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56032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12345678901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962656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999232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✅ Doc. Apto para Venda + print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Calibri"/>
              </a:rPr>
              <a:t>💡 Dicas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Use antes de concluir vendas que exigem biometria.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O print confirma o que aparece no GED.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⚠️ Avisos importantes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Logoff obrigatório no GED após a consulta (feito pela automação).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Somente quem tem a flag na Governança.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13. VENDER — Realizar venda pelo 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PAP completo 🆕  ·  Acesso: autorizar_venda_sem_auditoria + matrícula PAP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6012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201168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284C7"/>
                </a:solidFill>
                <a:latin typeface="Calibri"/>
              </a:rPr>
              <a:t>Comando: VENDER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960120"/>
            <a:ext cx="1828800" cy="29260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005840"/>
            <a:ext cx="182880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PAP completo 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17320"/>
            <a:ext cx="66751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73152" cy="3063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54480"/>
            <a:ext cx="6309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Calibri"/>
              </a:rPr>
              <a:t>📋 Passo a passo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1. Digite VENDER (ou VENDA) e confirme a matrícula (SIM).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2. CEP → número → referência (viabilidade no PAP).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3. CPF → celular → e-mail → crédito → forma pgto → plano → stream/fixo.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4. Cliente confirma SIM no WhatsApp + biometria (CONSULTAR / BIO OK).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5. Agendamento (dia/período) → Abrir O.S. → grava no CRM.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0"/>
            <a:ext cx="4480560" cy="3063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417320"/>
            <a:ext cx="44805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4904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💬 Exemplo no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920240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956816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Confirma matrícula PAP xxx? [SIM]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359152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395728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SIM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798064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83464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Informe o CEP da instalação…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Calibri"/>
              </a:rPr>
              <a:t>💡 Dicas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ESTENDER: +5 min (máx. 3 vezes). REPETIR: reenvia última pergunta.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CANCELAR / SAIR / PARAR abortam o fluxo com segurança.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Timeout de sessão ≈ 10 minutos de inatividade.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⚠️ Avisos importantes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NOVA VENDA é outro fluxo (cadastro CRM), não abre o PAP.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Exige pool BO PAP saudável e matrícula válida.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Confirmação do cliente no WhatsApp é obrigatória.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VENDER — mapa do funil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Do login PAP até a O.S. no CRM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88720"/>
            <a:ext cx="1188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88720"/>
            <a:ext cx="118872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234440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60020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1A2332"/>
                </a:solidFill>
                <a:latin typeface="Calibri"/>
              </a:rPr>
              <a:t>Matrícula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57400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B6B7D"/>
                </a:solidFill>
                <a:latin typeface="Calibri"/>
              </a:rPr>
              <a:t>Confirma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691640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18488" y="1188720"/>
            <a:ext cx="1188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18488" y="1188720"/>
            <a:ext cx="118872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18488" y="1234440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160020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1A2332"/>
                </a:solidFill>
                <a:latin typeface="Calibri"/>
              </a:rPr>
              <a:t>Endereço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2057400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B6B7D"/>
                </a:solidFill>
                <a:latin typeface="Calibri"/>
              </a:rPr>
              <a:t>CEP · nº · ref.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1691640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16936" y="1188720"/>
            <a:ext cx="1188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16936" y="1188720"/>
            <a:ext cx="118872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16936" y="1234440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160020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1A2332"/>
                </a:solidFill>
                <a:latin typeface="Calibri"/>
              </a:rPr>
              <a:t>Cliente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62656" y="2057400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B6B7D"/>
                </a:solidFill>
                <a:latin typeface="Calibri"/>
              </a:rPr>
              <a:t>CPF · tel · e-mail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8496" y="1691640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15384" y="1188720"/>
            <a:ext cx="1188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15384" y="1188720"/>
            <a:ext cx="118872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15384" y="1234440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61104" y="160020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1A2332"/>
                </a:solidFill>
                <a:latin typeface="Calibri"/>
              </a:rPr>
              <a:t>Crédito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1104" y="2057400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B6B7D"/>
                </a:solidFill>
                <a:latin typeface="Calibri"/>
              </a:rPr>
              <a:t>Análise PAP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6944" y="1691640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13832" y="1188720"/>
            <a:ext cx="1188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3832" y="1188720"/>
            <a:ext cx="118872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13832" y="1234440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9552" y="160020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1A2332"/>
                </a:solidFill>
                <a:latin typeface="Calibri"/>
              </a:rPr>
              <a:t>Oferta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59552" y="2057400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B6B7D"/>
                </a:solidFill>
                <a:latin typeface="Calibri"/>
              </a:rPr>
              <a:t>Pgto · plano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1691640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12280" y="1188720"/>
            <a:ext cx="1188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12280" y="1188720"/>
            <a:ext cx="118872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80" y="1234440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160020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1A2332"/>
                </a:solidFill>
                <a:latin typeface="Calibri"/>
              </a:rPr>
              <a:t>Confirma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2057400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B6B7D"/>
                </a:solidFill>
                <a:latin typeface="Calibri"/>
              </a:rPr>
              <a:t>SIM do cliente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1691640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10728" y="1188720"/>
            <a:ext cx="1188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10728" y="1188720"/>
            <a:ext cx="118872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10728" y="1234440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56448" y="160020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1A2332"/>
                </a:solidFill>
                <a:latin typeface="Calibri"/>
              </a:rPr>
              <a:t>Bio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56448" y="2057400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B6B7D"/>
                </a:solidFill>
                <a:latin typeface="Calibri"/>
              </a:rPr>
              <a:t>CONSULTAR/OK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62288" y="1691640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09176" y="1188720"/>
            <a:ext cx="1188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09176" y="1188720"/>
            <a:ext cx="118872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09176" y="1234440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54896" y="160020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1A2332"/>
                </a:solidFill>
                <a:latin typeface="Calibri"/>
              </a:rPr>
              <a:t>Agenda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54896" y="2057400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B6B7D"/>
                </a:solidFill>
                <a:latin typeface="Calibri"/>
              </a:rPr>
              <a:t>Dia · período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60736" y="1691640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707624" y="1188720"/>
            <a:ext cx="1188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707624" y="1188720"/>
            <a:ext cx="118872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707624" y="1234440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53344" y="1600200"/>
            <a:ext cx="1097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1A2332"/>
                </a:solidFill>
                <a:latin typeface="Calibri"/>
              </a:rPr>
              <a:t>O.S.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53344" y="2057400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B6B7D"/>
                </a:solidFill>
                <a:latin typeface="Calibri"/>
              </a:rPr>
              <a:t>Abre + CRM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65760" y="292608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5760" y="2926080"/>
            <a:ext cx="73152" cy="3200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3035808"/>
            <a:ext cx="5257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284C7"/>
                </a:solidFill>
                <a:latin typeface="Calibri"/>
              </a:rPr>
              <a:t>Comandos auxiliares durante a venda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CANCELAR / SAIR / PARAR — encerra o fluxo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ESTENDER — +5 minutos (máximo 3 vezes)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REPETIR — reenvia a última pergunta do bot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CONFIRMAR — quando o fluxo pedir confirmação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Timeout ≈ 10 min sem interação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Cliente recebe mensagem com protocolo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292608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17920" y="2926080"/>
            <a:ext cx="73152" cy="3200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0" y="3035808"/>
            <a:ext cx="5257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Calibri"/>
              </a:rPr>
              <a:t>Checklist antes de iniciar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☑ Matrícula PAP válida e ativa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☑ Flag autorizar_venda_sem_auditoria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☑ Pool BackOffice PAP operacional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☑ Cliente com WhatsApp no celular informado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☑ CEP coberto e viável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☑ Não misturar com NOVA VENDA (CRM)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14. NOVA VENDA — Cadastrar venda no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Via APP ou Sem APP  ·  Acesso: Vendedores cadastrados (automática: flag autorizar_venda_automatica)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6012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201168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284C7"/>
                </a:solidFill>
                <a:latin typeface="Calibri"/>
              </a:rPr>
              <a:t>Comando: NOVA VENDA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960120"/>
            <a:ext cx="1828800" cy="29260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005840"/>
            <a:ext cx="182880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Via APP ou Sem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17320"/>
            <a:ext cx="66751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73152" cy="3063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54480"/>
            <a:ext cx="6309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Calibri"/>
              </a:rPr>
              <a:t>📋 Passo a passo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1. Digite NOVA VENDA (ou CADASTRAR VENDA).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2. Escolha APP ou SEM APP → telefone fixo SIM/NÃO.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3. Se autorizado: informe se gerou O.S. automática.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4. CPF/CNPJ → nome (se novo) → tel1 → tel2.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5. Via APP: vai a observações. Sem APP: endereço, plano, forma pgto, obs.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6. Confirme e salve no CRM.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0"/>
            <a:ext cx="4480560" cy="3063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417320"/>
            <a:ext cx="44805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4904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💬 Exemplo no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920240"/>
            <a:ext cx="4069080" cy="53035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956816"/>
            <a:ext cx="3931920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Nova venda no CRM:
[APP] ou [SEM APP]?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523744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56032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SEM 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962656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999232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Informe o CPF/CNPJ do cliente…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Calibri"/>
              </a:rPr>
              <a:t>💡 Dicas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Use APP quando a venda já foi feita no app Nio.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SEM APP preenche endereço e plano para o time operar.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⚠️ Avisos importantes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Não confunda com VENDER (que abre pedido no PAP).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CNPJ pede dados extras (mãe, nascimento, e-mail, representante).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15. COMISSAO — Bônus, desconto e adiantamentos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Somente Diretoria / Admin  ·  Acesso: Perfil Diretoria ou 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6012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201168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284C7"/>
                </a:solidFill>
                <a:latin typeface="Calibri"/>
              </a:rPr>
              <a:t>Comando: COMISSAO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960120"/>
            <a:ext cx="1828800" cy="29260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005840"/>
            <a:ext cx="182880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Somente Diretoria / 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17320"/>
            <a:ext cx="66751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73152" cy="3063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54480"/>
            <a:ext cx="6309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Calibri"/>
              </a:rPr>
              <a:t>📋 Passo a passo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1. Digite COMISSAO para ver a ajuda dos comandos.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2. BONUS login valor AAAA-MM-DD descrição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3. DESCONTO login valor AAAA-MM-DD descrição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4. ADIANT_COMISSAO [AAAA-MM] [login] → LISTA / DETALHE N / marcar vendas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5. ADIANT_SABADO [data] → resumo do sábado + mesma interação.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0"/>
            <a:ext cx="4480560" cy="3063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417320"/>
            <a:ext cx="44805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4904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💬 Exemplo no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920240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1956816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COMISSAO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2359152"/>
            <a:ext cx="4069080" cy="53035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2395728"/>
            <a:ext cx="3931920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Ajuda: BONUS · DESCONTO · ADIANT_COMISSAO · ADIANT_SABADO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2962656"/>
            <a:ext cx="406908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2999232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BONUS joao 50 2026-07-22 Meta batida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Calibri"/>
              </a:rPr>
              <a:t>💡 Dicas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Siga exatamente o formato data AAAA-MM-DD.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Em adiantamentos, use LISTA e DETALHE N para navegar.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617720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⚠️ Avisos importantes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Comandos sensíveis — apenas Diretoria/Admin.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A2332"/>
                </a:solidFill>
                <a:latin typeface="Calibri"/>
              </a:rPr>
              <a:t>• Valide login e valores antes de confirmar lançamentos.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Matriz rápida de permissões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Quem pode usar o quê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3474720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3337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Comando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097280"/>
            <a:ext cx="4206240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143000"/>
            <a:ext cx="4069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Quem usa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097280"/>
            <a:ext cx="3840480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143000"/>
            <a:ext cx="3703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Observação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444752"/>
            <a:ext cx="3474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536192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DFV, CDOE, Viabilidade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1444752"/>
            <a:ext cx="42062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536192"/>
            <a:ext cx="4069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Todos cadastrados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444752"/>
            <a:ext cx="3840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536192"/>
            <a:ext cx="3703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Power BI / KMZ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883664"/>
            <a:ext cx="347472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1975104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Status, Fatura, Conta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1883664"/>
            <a:ext cx="42062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1975104"/>
            <a:ext cx="4069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Todos cadastrados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883664"/>
            <a:ext cx="384048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975104"/>
            <a:ext cx="3703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CRM / Nio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322576"/>
            <a:ext cx="3474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414016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Material / Apoia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2322576"/>
            <a:ext cx="42062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0" y="2414016"/>
            <a:ext cx="4069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Todos cadastrados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2322576"/>
            <a:ext cx="3840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2414016"/>
            <a:ext cx="3703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Record Apoia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761488"/>
            <a:ext cx="347472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2852928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Andamento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2761488"/>
            <a:ext cx="42062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0" y="2852928"/>
            <a:ext cx="4069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Vend. (próprias) · Dir/Admin/BO (todas)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2761488"/>
            <a:ext cx="384048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2852928"/>
            <a:ext cx="3703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Agenda do dia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00400"/>
            <a:ext cx="3474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291840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Inclusão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0" y="3200400"/>
            <a:ext cx="42062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0" y="3291840"/>
            <a:ext cx="4069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Flag inclusão WPP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3200400"/>
            <a:ext cx="3840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3291840"/>
            <a:ext cx="3703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Formulário externo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639312"/>
            <a:ext cx="347472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730752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Crédito / Pedido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3639312"/>
            <a:ext cx="42062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0" y="3730752"/>
            <a:ext cx="4069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Flag análise crédito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3639312"/>
            <a:ext cx="384048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3730752"/>
            <a:ext cx="3703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Pool BO PAP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078224"/>
            <a:ext cx="3474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169664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Bio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40480" y="4078224"/>
            <a:ext cx="42062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31920" y="4169664"/>
            <a:ext cx="4069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Flag biometria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0" y="4078224"/>
            <a:ext cx="3840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38160" y="4169664"/>
            <a:ext cx="3703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Br Pronto / GED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517136"/>
            <a:ext cx="347472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608576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Vender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0" y="4517136"/>
            <a:ext cx="42062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31920" y="4608576"/>
            <a:ext cx="4069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Flag venda s/ auditoria + matrícula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46720" y="4517136"/>
            <a:ext cx="384048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38160" y="4608576"/>
            <a:ext cx="3703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Funil PAP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4956048"/>
            <a:ext cx="3474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047488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Nova Venda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40480" y="4956048"/>
            <a:ext cx="42062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31920" y="5047488"/>
            <a:ext cx="4069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Cadastrados (+ flag automática)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46720" y="4956048"/>
            <a:ext cx="3840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38160" y="5047488"/>
            <a:ext cx="3703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Só CRM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5394960"/>
            <a:ext cx="347472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5486400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Comissão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40480" y="5394960"/>
            <a:ext cx="42062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31920" y="5486400"/>
            <a:ext cx="4069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Diretoria / Admin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46720" y="5394960"/>
            <a:ext cx="384048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38160" y="5486400"/>
            <a:ext cx="3703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2332"/>
                </a:solidFill>
                <a:latin typeface="Calibri"/>
              </a:rPr>
              <a:t>Lançamentos sensíveis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Automações WhatsApp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Cola rápida — comandos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Para fixar no mural ou no celular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9144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MENU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9903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Abre o menu completo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05156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051560"/>
            <a:ext cx="91440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12471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DFV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39903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Fachadas por CEP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05156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051560"/>
            <a:ext cx="9144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12471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CDOE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39903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Endereços por CDO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1874519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1874519"/>
            <a:ext cx="91440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1947671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VIABILIDADE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2221991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Mancha / KMZ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1874519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1874519"/>
            <a:ext cx="9144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1947671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INCLUSAO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2221991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Solicitar inclusão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1874519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1874519"/>
            <a:ext cx="91440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1947671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221991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Status pedido/OS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269748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2697480"/>
            <a:ext cx="9144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277063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FATURA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04495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Faturas Nio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51960" y="269748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51960" y="2697480"/>
            <a:ext cx="91440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277063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CONTA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304495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2ª via site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269748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2697480"/>
            <a:ext cx="9144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277063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MATERIAL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304495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Buscar arquivo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352044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3520440"/>
            <a:ext cx="91440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59359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APOIA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386791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Record Apoia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51960" y="352044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51960" y="3520440"/>
            <a:ext cx="9144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80560" y="359359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ANDAMENTO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386791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Agenda do dia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38160" y="352044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38160" y="3520440"/>
            <a:ext cx="91440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6760" y="359359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CREDITO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86791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Análise crédito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434340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5760" y="4343400"/>
            <a:ext cx="9144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441655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PEDIDO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469087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OS no PAP 30d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51960" y="434340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51960" y="4343400"/>
            <a:ext cx="91440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80560" y="441655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BIO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80560" y="469087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Biometria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38160" y="434340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138160" y="4343400"/>
            <a:ext cx="9144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66760" y="441655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VENDER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66760" y="469087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Venda no PAP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65760" y="516636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65760" y="5166360"/>
            <a:ext cx="91440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" y="523951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NOVA VENDA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" y="551383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Cadastro CRM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251960" y="516636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251960" y="5166360"/>
            <a:ext cx="9144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80560" y="523951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COMISSAO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80560" y="551383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Ajuda comissão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138160" y="516636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138160" y="5166360"/>
            <a:ext cx="91440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66760" y="523951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CANCELAR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66760" y="551383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B7D"/>
                </a:solidFill>
                <a:latin typeface="Calibri"/>
              </a:rPr>
              <a:t>Abortar fluxo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625074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3774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Pronto para operar no 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Em dúvida: digite MENU.
Problema de permissão: fale com Governança.
Instabilidade PAP/Nio: acione o BackOffice.
Record PAP — parceiro oficial Nio Fibra.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029200"/>
            <a:ext cx="32004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38BDF8"/>
                </a:solidFill>
                <a:latin typeface="Calibri"/>
              </a:rPr>
              <a:t>Obrigado — bom atendimento e boas vendas!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